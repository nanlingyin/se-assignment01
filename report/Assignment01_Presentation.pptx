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Assignment brief uploaded by user: /mnt/data/Software Engineering  - Assignment 1.pdf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Assignment brief uploaded by user: /mnt/data/Software Engineering  - Assignment 1.pdf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IBM. Agile vs. Waterfall: What's the Difference? https://www.ibm.com/think/topics/agile-vs-waterfall
- NASA. Agile: From Software to Mission System. https://ntrs.nasa.gov/api/citations/20160006387/downloads/20160006387.pdf
- Atlassian. What is Agile? https://www.atlassian.com/agile
- Lockheed Martin. Agile Software Development for Air Force Weapon System. https://news.lockheedmartin.com/2018-09-18-Lockheed-Martin-Embraces-Agile-Software-Development-to-Evolve-Signals-Intelligence-Capabilities-for-Air-Force-Weapon-System
- Atlassian. What is Scrum? https://www.atlassian.com/agile/scrum
- Salesforce Trailhead. Learn About Scrum. https://trailhead.salesforce.com/content/learn/modules/scrum-and-kanban-at-salesforce/learn-about-scrum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Atlassian. What is Kanban? https://www.atlassian.com/agile/kanban
- Toyota Motor Corporation. Development and Deployment of the Toyota Production System. https://www.toyota-global.com/company/history_of_toyota/75years/text/entering_the_automotive_business/chapter1/section4/item4.html
- AWS. What is DevOps? https://aws.amazon.com/devops/what-is-devops/
- AWS. DevOps on AWS. https://aws.amazon.com/devops/
- Barry Boehm / SEI. Spiral Development: Experience, Principles, and Refinements. https://www.sei.cmu.edu/documents/5439/2000_003_001_13655.pdf
- NASA. TReK project case study. https://ntrs.nasa.gov/citations/19990064487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IBM. Agile vs. Waterfall: What's the Difference? https://www.ibm.com/think/topics/agile-vs-waterfall
- Atlassian. What is Agile? https://www.atlassian.com/agile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Assignment brief uploaded by user: /mnt/data/Software Engineering  - Assignment 1.pdf
- Comparison table image generated for this deck from the assignment content and supporting references.
- IBM. Agile vs. Waterfall. https://www.ibm.com/think/topics/agile-vs-waterfall
- Atlassian. What is Agile? https://www.atlassian.com/agile
- Atlassian. What is Scrum? https://www.atlassian.com/agile/scrum
- Atlassian. What is Kanban? https://www.atlassian.com/agile/kanban
- AWS. What is DevOps? https://aws.amazon.com/devops/what-is-devops/
- SEI. Spiral Development: Experience, Principles, and Refinements. https://www.sei.cmu.edu/documents/5439/2000_003_001_13655.pdf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Atlassian. What is Scrum? https://www.atlassian.com/agile/scrum
- Salesforce Trailhead. Learn About Scrum. https://trailhead.salesforce.com/content/learn/modules/scrum-and-kanban-at-salesforce/learn-about-scrum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IBM. Agile vs. Waterfall: What's the Difference? https://www.ibm.com/think/topics/agile-vs-waterfall
- Atlassian. What is Agile? https://www.atlassian.com/agile
- Atlassian. What is Scrum? https://www.atlassian.com/agile/scrum
- Atlassian. What is Kanban? https://www.atlassian.com/agile/kanban
- AWS. What is DevOps? https://aws.amazon.com/devops/what-is-devops/
- SEI. Spiral Development. https://www.sei.cmu.edu/documents/5439/2000_003_001_13655.pdf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28600"/>
            <a:ext cx="11548872" cy="73152"/>
          </a:xfrm>
          <a:prstGeom prst="rect">
            <a:avLst/>
          </a:prstGeom>
          <a:solidFill>
            <a:srgbClr val="DCE7F3"/>
          </a:solidFill>
          <a:ln w="12700">
            <a:solidFill>
              <a:srgbClr val="DCE7F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281160" y="6464808"/>
            <a:ext cx="2514600" cy="1645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A7D9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Software Engineering • Assignment 01</a:t>
            </a:r>
            <a:endParaRPr lang="en-US" sz="8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658368"/>
            <a:ext cx="10899648" cy="5193792"/>
          </a:xfrm>
          <a:prstGeom prst="roundRect">
            <a:avLst>
              <a:gd name="adj" fmla="val 1408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868680" y="1143000"/>
            <a:ext cx="5349240" cy="10972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63A6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Software Development Models</a:t>
            </a:r>
            <a:endParaRPr lang="en-US" sz="2800" dirty="0"/>
          </a:p>
          <a:p>
            <a:pPr marL="0" indent="0">
              <a:buNone/>
            </a:pPr>
            <a:r>
              <a:rPr lang="en-US" sz="2800" b="1" dirty="0">
                <a:solidFill>
                  <a:srgbClr val="163A6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and Methodologies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96112" y="2267712"/>
            <a:ext cx="310896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F6FB0"/>
                </a:solidFill>
              </a:rPr>
              <a:t>Assignment 01 Presentation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914400" y="2670048"/>
            <a:ext cx="484632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3768A"/>
                </a:solidFill>
              </a:rPr>
              <a:t>Waterfall • Agile • Scrum • Kanban • DevOps • Spiral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914400" y="3154680"/>
            <a:ext cx="274320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23446"/>
                </a:solidFill>
              </a:rPr>
              <a:t>Prepared by: L</a:t>
            </a:r>
            <a:r>
              <a:rPr lang="en-US" sz="1400" dirty="0">
                <a:solidFill>
                  <a:srgbClr val="223446"/>
                </a:solidFill>
              </a:rPr>
              <a:t>ynn</a:t>
            </a:r>
            <a:endParaRPr lang="en-US" sz="1400" dirty="0">
              <a:solidFill>
                <a:srgbClr val="223446"/>
              </a:solidFill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223446"/>
                </a:solidFill>
              </a:rPr>
              <a:t>Course: Software Engineering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23446"/>
                </a:solidFill>
              </a:rPr>
              <a:t>Repository: SE-Assignment01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967728" y="1170432"/>
            <a:ext cx="3931920" cy="4069080"/>
          </a:xfrm>
          <a:prstGeom prst="roundRect">
            <a:avLst>
              <a:gd name="adj" fmla="val 1860"/>
            </a:avLst>
          </a:prstGeom>
          <a:solidFill>
            <a:srgbClr val="F6F9FC"/>
          </a:solidFill>
          <a:ln w="15240">
            <a:solidFill>
              <a:srgbClr val="D9E8F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269480" y="1481328"/>
            <a:ext cx="1353312" cy="329184"/>
          </a:xfrm>
          <a:prstGeom prst="roundRect">
            <a:avLst>
              <a:gd name="adj" fmla="val 22222"/>
            </a:avLst>
          </a:prstGeom>
          <a:solidFill>
            <a:srgbClr val="163A63"/>
          </a:solidFill>
          <a:ln w="12700">
            <a:solidFill>
              <a:srgbClr val="163A6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269480" y="1554480"/>
            <a:ext cx="1353312" cy="1371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FFFFFF"/>
                </a:solidFill>
              </a:rPr>
              <a:t>Waterfall</a:t>
            </a:r>
            <a:endParaRPr lang="en-US" sz="1120" dirty="0"/>
          </a:p>
        </p:txBody>
      </p:sp>
      <p:sp>
        <p:nvSpPr>
          <p:cNvPr id="10" name="Shape 8"/>
          <p:cNvSpPr/>
          <p:nvPr/>
        </p:nvSpPr>
        <p:spPr>
          <a:xfrm>
            <a:off x="8805672" y="1481328"/>
            <a:ext cx="914400" cy="329184"/>
          </a:xfrm>
          <a:prstGeom prst="roundRect">
            <a:avLst>
              <a:gd name="adj" fmla="val 22222"/>
            </a:avLst>
          </a:prstGeom>
          <a:solidFill>
            <a:srgbClr val="2F6FB0"/>
          </a:solidFill>
          <a:ln w="12700">
            <a:solidFill>
              <a:srgbClr val="2F6FB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805672" y="1554480"/>
            <a:ext cx="914400" cy="1371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FFFFFF"/>
                </a:solidFill>
              </a:rPr>
              <a:t>Agile</a:t>
            </a:r>
            <a:endParaRPr lang="en-US" sz="1120" dirty="0"/>
          </a:p>
        </p:txBody>
      </p:sp>
      <p:sp>
        <p:nvSpPr>
          <p:cNvPr id="12" name="Shape 10"/>
          <p:cNvSpPr/>
          <p:nvPr/>
        </p:nvSpPr>
        <p:spPr>
          <a:xfrm>
            <a:off x="9857232" y="1481328"/>
            <a:ext cx="914400" cy="329184"/>
          </a:xfrm>
          <a:prstGeom prst="roundRect">
            <a:avLst>
              <a:gd name="adj" fmla="val 22222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857232" y="1554480"/>
            <a:ext cx="914400" cy="1371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FFFFFF"/>
                </a:solidFill>
              </a:rPr>
              <a:t>Scrum</a:t>
            </a:r>
            <a:endParaRPr lang="en-US" sz="1120" dirty="0"/>
          </a:p>
        </p:txBody>
      </p:sp>
      <p:sp>
        <p:nvSpPr>
          <p:cNvPr id="14" name="Shape 12"/>
          <p:cNvSpPr/>
          <p:nvPr/>
        </p:nvSpPr>
        <p:spPr>
          <a:xfrm>
            <a:off x="7269480" y="2084832"/>
            <a:ext cx="1078992" cy="329184"/>
          </a:xfrm>
          <a:prstGeom prst="roundRect">
            <a:avLst>
              <a:gd name="adj" fmla="val 22222"/>
            </a:avLst>
          </a:prstGeom>
          <a:solidFill>
            <a:srgbClr val="7D58A5"/>
          </a:solidFill>
          <a:ln w="12700">
            <a:solidFill>
              <a:srgbClr val="7D58A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269480" y="2157984"/>
            <a:ext cx="1078992" cy="1371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FFFFFF"/>
                </a:solidFill>
              </a:rPr>
              <a:t>Kanban</a:t>
            </a:r>
            <a:endParaRPr lang="en-US" sz="1120" dirty="0"/>
          </a:p>
        </p:txBody>
      </p:sp>
      <p:sp>
        <p:nvSpPr>
          <p:cNvPr id="16" name="Shape 14"/>
          <p:cNvSpPr/>
          <p:nvPr/>
        </p:nvSpPr>
        <p:spPr>
          <a:xfrm>
            <a:off x="8549640" y="2084832"/>
            <a:ext cx="1170432" cy="329184"/>
          </a:xfrm>
          <a:prstGeom prst="roundRect">
            <a:avLst>
              <a:gd name="adj" fmla="val 22222"/>
            </a:avLst>
          </a:prstGeom>
          <a:solidFill>
            <a:srgbClr val="D4A94D"/>
          </a:solidFill>
          <a:ln w="12700">
            <a:solidFill>
              <a:srgbClr val="D4A94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549640" y="2157984"/>
            <a:ext cx="1170432" cy="1371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FFFFFF"/>
                </a:solidFill>
              </a:rPr>
              <a:t>DevOps</a:t>
            </a:r>
            <a:endParaRPr lang="en-US" sz="1120" dirty="0"/>
          </a:p>
        </p:txBody>
      </p:sp>
      <p:sp>
        <p:nvSpPr>
          <p:cNvPr id="18" name="Shape 16"/>
          <p:cNvSpPr/>
          <p:nvPr/>
        </p:nvSpPr>
        <p:spPr>
          <a:xfrm>
            <a:off x="9857232" y="2084832"/>
            <a:ext cx="914400" cy="329184"/>
          </a:xfrm>
          <a:prstGeom prst="roundRect">
            <a:avLst>
              <a:gd name="adj" fmla="val 22222"/>
            </a:avLst>
          </a:prstGeom>
          <a:solidFill>
            <a:srgbClr val="C65A46"/>
          </a:solidFill>
          <a:ln w="12700">
            <a:solidFill>
              <a:srgbClr val="C65A4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857232" y="2157984"/>
            <a:ext cx="914400" cy="1371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FFFFFF"/>
                </a:solidFill>
              </a:rPr>
              <a:t>Spiral</a:t>
            </a:r>
            <a:endParaRPr lang="en-US" sz="1120" dirty="0"/>
          </a:p>
        </p:txBody>
      </p:sp>
      <p:sp>
        <p:nvSpPr>
          <p:cNvPr id="20" name="Text 18"/>
          <p:cNvSpPr/>
          <p:nvPr/>
        </p:nvSpPr>
        <p:spPr>
          <a:xfrm>
            <a:off x="7296785" y="2688590"/>
            <a:ext cx="1252855" cy="16446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3A63"/>
                </a:solidFill>
              </a:rPr>
              <a:t>Goal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7296912" y="2999232"/>
            <a:ext cx="3127248" cy="7132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23446"/>
                </a:solidFill>
              </a:rPr>
              <a:t>Compare six development approaches, explain when to use each one, and justify the best choice for a student team project.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296912" y="3950208"/>
            <a:ext cx="1097280" cy="1645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3A63"/>
                </a:solidFill>
              </a:rPr>
              <a:t>Video flow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7296912" y="4187952"/>
            <a:ext cx="2834640" cy="7498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20" dirty="0">
                <a:solidFill>
                  <a:srgbClr val="223446"/>
                </a:solidFill>
              </a:rPr>
              <a:t>1. Quick overview</a:t>
            </a:r>
            <a:endParaRPr lang="en-US" sz="1420" dirty="0"/>
          </a:p>
          <a:p>
            <a:pPr marL="0" indent="0">
              <a:buNone/>
            </a:pPr>
            <a:r>
              <a:rPr lang="en-US" sz="1420" dirty="0">
                <a:solidFill>
                  <a:srgbClr val="223446"/>
                </a:solidFill>
              </a:rPr>
              <a:t>2. Agile vs Waterfall</a:t>
            </a:r>
            <a:endParaRPr lang="en-US" sz="1420" dirty="0"/>
          </a:p>
          <a:p>
            <a:pPr marL="0" indent="0">
              <a:buNone/>
            </a:pPr>
            <a:r>
              <a:rPr lang="en-US" sz="1420" dirty="0">
                <a:solidFill>
                  <a:srgbClr val="223446"/>
                </a:solidFill>
              </a:rPr>
              <a:t>3. Comparison table</a:t>
            </a:r>
            <a:endParaRPr lang="en-US" sz="1420" dirty="0"/>
          </a:p>
          <a:p>
            <a:pPr marL="0" indent="0">
              <a:buNone/>
            </a:pPr>
            <a:r>
              <a:rPr lang="en-US" sz="1420" dirty="0">
                <a:solidFill>
                  <a:srgbClr val="223446"/>
                </a:solidFill>
              </a:rPr>
              <a:t>4. My recommended model</a:t>
            </a:r>
            <a:endParaRPr lang="en-US" sz="142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813816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63A6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Presentation Map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12648" y="850392"/>
            <a:ext cx="713232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376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clear structure for the 10–12 minute explanation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12648" y="1133856"/>
            <a:ext cx="1463040" cy="0"/>
          </a:xfrm>
          <a:prstGeom prst="line">
            <a:avLst/>
          </a:prstGeom>
          <a:noFill/>
          <a:ln w="27940">
            <a:solidFill>
              <a:srgbClr val="2F6FB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34440" y="3017520"/>
            <a:ext cx="9509760" cy="0"/>
          </a:xfrm>
          <a:prstGeom prst="line">
            <a:avLst/>
          </a:prstGeom>
          <a:noFill/>
          <a:ln w="27940">
            <a:solidFill>
              <a:srgbClr val="D9E8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2724912"/>
            <a:ext cx="658368" cy="658368"/>
          </a:xfrm>
          <a:prstGeom prst="ellipse">
            <a:avLst/>
          </a:prstGeom>
          <a:solidFill>
            <a:srgbClr val="2F6FB0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916936"/>
            <a:ext cx="658368" cy="1645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49808" y="3657600"/>
            <a:ext cx="18288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163A63"/>
                </a:solidFill>
              </a:rPr>
              <a:t>Six-model overview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530352" y="3950208"/>
            <a:ext cx="228600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30" dirty="0">
                <a:solidFill>
                  <a:srgbClr val="223446"/>
                </a:solidFill>
              </a:rPr>
              <a:t>Name and describe all six models in short, simple language.</a:t>
            </a:r>
            <a:endParaRPr lang="en-US" sz="1230" dirty="0"/>
          </a:p>
        </p:txBody>
      </p:sp>
      <p:sp>
        <p:nvSpPr>
          <p:cNvPr id="10" name="Shape 8"/>
          <p:cNvSpPr/>
          <p:nvPr/>
        </p:nvSpPr>
        <p:spPr>
          <a:xfrm>
            <a:off x="3200400" y="2724912"/>
            <a:ext cx="658368" cy="658368"/>
          </a:xfrm>
          <a:prstGeom prst="ellipse">
            <a:avLst/>
          </a:prstGeom>
          <a:solidFill>
            <a:srgbClr val="2A9D8F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0" y="2916936"/>
            <a:ext cx="658368" cy="1645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035808" y="3657600"/>
            <a:ext cx="18288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163A63"/>
                </a:solidFill>
              </a:rPr>
              <a:t>Agile vs Waterfall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2816352" y="3950208"/>
            <a:ext cx="228600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30" dirty="0">
                <a:solidFill>
                  <a:srgbClr val="223446"/>
                </a:solidFill>
              </a:rPr>
              <a:t>Explain why one is adaptive and the other is sequential.</a:t>
            </a:r>
            <a:endParaRPr lang="en-US" sz="1230" dirty="0"/>
          </a:p>
        </p:txBody>
      </p:sp>
      <p:sp>
        <p:nvSpPr>
          <p:cNvPr id="14" name="Shape 12"/>
          <p:cNvSpPr/>
          <p:nvPr/>
        </p:nvSpPr>
        <p:spPr>
          <a:xfrm>
            <a:off x="5486400" y="2724912"/>
            <a:ext cx="658368" cy="658368"/>
          </a:xfrm>
          <a:prstGeom prst="ellipse">
            <a:avLst/>
          </a:prstGeom>
          <a:solidFill>
            <a:srgbClr val="2F6FB0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0" y="2916936"/>
            <a:ext cx="658368" cy="1645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321808" y="3657600"/>
            <a:ext cx="18288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163A63"/>
                </a:solidFill>
              </a:rPr>
              <a:t>Comparison table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5102352" y="3950208"/>
            <a:ext cx="228600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30" dirty="0">
                <a:solidFill>
                  <a:srgbClr val="223446"/>
                </a:solidFill>
              </a:rPr>
              <a:t>Highlight flexibility, customer involvement, documentation, and project fit.</a:t>
            </a:r>
            <a:endParaRPr lang="en-US" sz="1230" dirty="0"/>
          </a:p>
        </p:txBody>
      </p:sp>
      <p:sp>
        <p:nvSpPr>
          <p:cNvPr id="18" name="Shape 16"/>
          <p:cNvSpPr/>
          <p:nvPr/>
        </p:nvSpPr>
        <p:spPr>
          <a:xfrm>
            <a:off x="7772400" y="2724912"/>
            <a:ext cx="658368" cy="658368"/>
          </a:xfrm>
          <a:prstGeom prst="ellipse">
            <a:avLst/>
          </a:prstGeom>
          <a:solidFill>
            <a:srgbClr val="2A9D8F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72400" y="2916936"/>
            <a:ext cx="658368" cy="1645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04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607808" y="3657600"/>
            <a:ext cx="18288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163A63"/>
                </a:solidFill>
              </a:rPr>
              <a:t>My choice for a student team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7388352" y="3950208"/>
            <a:ext cx="228600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30" dirty="0">
                <a:solidFill>
                  <a:srgbClr val="223446"/>
                </a:solidFill>
              </a:rPr>
              <a:t>Recommend one model and justify the choice clearly.</a:t>
            </a:r>
            <a:endParaRPr lang="en-US" sz="1230" dirty="0"/>
          </a:p>
        </p:txBody>
      </p:sp>
      <p:sp>
        <p:nvSpPr>
          <p:cNvPr id="22" name="Shape 20"/>
          <p:cNvSpPr/>
          <p:nvPr/>
        </p:nvSpPr>
        <p:spPr>
          <a:xfrm>
            <a:off x="841248" y="1417320"/>
            <a:ext cx="10515600" cy="786384"/>
          </a:xfrm>
          <a:prstGeom prst="roundRect">
            <a:avLst>
              <a:gd name="adj" fmla="val 8140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97280" y="1664208"/>
            <a:ext cx="1001268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23446"/>
                </a:solidFill>
              </a:rPr>
              <a:t>Required models: Waterfall, Agile, Scrum, Kanban, DevOps, and Spiral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813816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63A6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Models 1–3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12648" y="850392"/>
            <a:ext cx="713232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376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Definition, best-fit project context, and one real-world example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12648" y="1133856"/>
            <a:ext cx="1463040" cy="0"/>
          </a:xfrm>
          <a:prstGeom prst="line">
            <a:avLst/>
          </a:prstGeom>
          <a:noFill/>
          <a:ln w="27940">
            <a:solidFill>
              <a:srgbClr val="2F6FB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1325880"/>
            <a:ext cx="1083564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5240">
            <a:solidFill>
              <a:srgbClr val="D7E0EA"/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41248" y="1527048"/>
            <a:ext cx="502920" cy="502920"/>
          </a:xfrm>
          <a:prstGeom prst="roundRect">
            <a:avLst>
              <a:gd name="adj" fmla="val 21818"/>
            </a:avLst>
          </a:prstGeom>
          <a:solidFill>
            <a:srgbClr val="163A63"/>
          </a:solidFill>
          <a:ln w="12700">
            <a:solidFill>
              <a:srgbClr val="163A6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1581912"/>
            <a:ext cx="502920" cy="1645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</a:rPr>
              <a:t>1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481328" y="1472184"/>
            <a:ext cx="260604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63A63"/>
                </a:solidFill>
              </a:rPr>
              <a:t>Waterfall Model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4526280" y="1481328"/>
            <a:ext cx="1234440" cy="256032"/>
          </a:xfrm>
          <a:prstGeom prst="roundRect">
            <a:avLst>
              <a:gd name="adj" fmla="val 25000"/>
            </a:avLst>
          </a:prstGeom>
          <a:solidFill>
            <a:srgbClr val="EEF4FB"/>
          </a:solidFill>
          <a:ln w="12700">
            <a:solidFill>
              <a:srgbClr val="EEF4F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81144" y="1522476"/>
            <a:ext cx="1115568" cy="1188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163A63"/>
                </a:solidFill>
              </a:rPr>
              <a:t>Traditional</a:t>
            </a:r>
            <a:endParaRPr lang="en-US" sz="920" dirty="0"/>
          </a:p>
        </p:txBody>
      </p:sp>
      <p:sp>
        <p:nvSpPr>
          <p:cNvPr id="11" name="Text 9"/>
          <p:cNvSpPr/>
          <p:nvPr/>
        </p:nvSpPr>
        <p:spPr>
          <a:xfrm>
            <a:off x="1481328" y="1783080"/>
            <a:ext cx="9601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10" dirty="0">
                <a:solidFill>
                  <a:srgbClr val="223446"/>
                </a:solidFill>
              </a:rPr>
              <a:t>Linear phases completed one after another; strong upfront planning and heavy documentation.</a:t>
            </a:r>
            <a:endParaRPr lang="en-US" sz="1210" dirty="0"/>
          </a:p>
        </p:txBody>
      </p:sp>
      <p:sp>
        <p:nvSpPr>
          <p:cNvPr id="12" name="Text 10"/>
          <p:cNvSpPr/>
          <p:nvPr/>
        </p:nvSpPr>
        <p:spPr>
          <a:xfrm>
            <a:off x="1481328" y="2176272"/>
            <a:ext cx="932688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60" b="1" dirty="0">
                <a:solidFill>
                  <a:srgbClr val="163A63"/>
                </a:solidFill>
              </a:rPr>
              <a:t>Best for: </a:t>
            </a:r>
            <a:r>
              <a:rPr lang="en-US" sz="1160" dirty="0">
                <a:solidFill>
                  <a:srgbClr val="223446"/>
                </a:solidFill>
              </a:rPr>
              <a:t>Stable requirements, compliance-heavy work, and safety-critical systems.</a:t>
            </a:r>
            <a:endParaRPr lang="en-US" sz="1160" dirty="0"/>
          </a:p>
        </p:txBody>
      </p:sp>
      <p:sp>
        <p:nvSpPr>
          <p:cNvPr id="13" name="Text 11"/>
          <p:cNvSpPr/>
          <p:nvPr/>
        </p:nvSpPr>
        <p:spPr>
          <a:xfrm>
            <a:off x="1481328" y="2450592"/>
            <a:ext cx="932688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60" b="1" dirty="0">
                <a:solidFill>
                  <a:srgbClr val="163A63"/>
                </a:solidFill>
              </a:rPr>
              <a:t>Example: </a:t>
            </a:r>
            <a:r>
              <a:rPr lang="en-US" sz="1160" dirty="0">
                <a:solidFill>
                  <a:srgbClr val="223446"/>
                </a:solidFill>
              </a:rPr>
              <a:t>NASA mission operations systems.</a:t>
            </a:r>
            <a:endParaRPr lang="en-US" sz="1160" dirty="0"/>
          </a:p>
        </p:txBody>
      </p:sp>
      <p:sp>
        <p:nvSpPr>
          <p:cNvPr id="14" name="Shape 12"/>
          <p:cNvSpPr/>
          <p:nvPr/>
        </p:nvSpPr>
        <p:spPr>
          <a:xfrm>
            <a:off x="658368" y="3063240"/>
            <a:ext cx="1083564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5240">
            <a:solidFill>
              <a:srgbClr val="D7E0EA"/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41248" y="3264408"/>
            <a:ext cx="502920" cy="502920"/>
          </a:xfrm>
          <a:prstGeom prst="roundRect">
            <a:avLst>
              <a:gd name="adj" fmla="val 21818"/>
            </a:avLst>
          </a:prstGeom>
          <a:solidFill>
            <a:srgbClr val="2F6FB0"/>
          </a:solidFill>
          <a:ln w="12700">
            <a:solidFill>
              <a:srgbClr val="2F6FB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1248" y="3319272"/>
            <a:ext cx="502920" cy="1645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</a:rPr>
              <a:t>2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1481328" y="3209544"/>
            <a:ext cx="260604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63A63"/>
                </a:solidFill>
              </a:rPr>
              <a:t>Agile Methodology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4526280" y="3218688"/>
            <a:ext cx="1234440" cy="256032"/>
          </a:xfrm>
          <a:prstGeom prst="roundRect">
            <a:avLst>
              <a:gd name="adj" fmla="val 25000"/>
            </a:avLst>
          </a:prstGeom>
          <a:solidFill>
            <a:srgbClr val="EEF4FB"/>
          </a:solidFill>
          <a:ln w="12700">
            <a:solidFill>
              <a:srgbClr val="EEF4F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81144" y="3259836"/>
            <a:ext cx="1115568" cy="1188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2F6FB0"/>
                </a:solidFill>
              </a:rPr>
              <a:t>Iterative</a:t>
            </a:r>
            <a:endParaRPr lang="en-US" sz="920" dirty="0"/>
          </a:p>
        </p:txBody>
      </p:sp>
      <p:sp>
        <p:nvSpPr>
          <p:cNvPr id="20" name="Text 18"/>
          <p:cNvSpPr/>
          <p:nvPr/>
        </p:nvSpPr>
        <p:spPr>
          <a:xfrm>
            <a:off x="1481328" y="3520440"/>
            <a:ext cx="9601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10" dirty="0">
                <a:solidFill>
                  <a:srgbClr val="223446"/>
                </a:solidFill>
              </a:rPr>
              <a:t>Short delivery cycles, continuous feedback, adaptive planning, and frequent improvement.</a:t>
            </a:r>
            <a:endParaRPr lang="en-US" sz="1210" dirty="0"/>
          </a:p>
        </p:txBody>
      </p:sp>
      <p:sp>
        <p:nvSpPr>
          <p:cNvPr id="21" name="Text 19"/>
          <p:cNvSpPr/>
          <p:nvPr/>
        </p:nvSpPr>
        <p:spPr>
          <a:xfrm>
            <a:off x="1481328" y="3913632"/>
            <a:ext cx="932688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60" b="1" dirty="0">
                <a:solidFill>
                  <a:srgbClr val="2F6FB0"/>
                </a:solidFill>
              </a:rPr>
              <a:t>Best for: </a:t>
            </a:r>
            <a:r>
              <a:rPr lang="en-US" sz="1160" dirty="0">
                <a:solidFill>
                  <a:srgbClr val="223446"/>
                </a:solidFill>
              </a:rPr>
              <a:t>Fast-changing digital products where user feedback matters early.</a:t>
            </a:r>
            <a:endParaRPr lang="en-US" sz="1160" dirty="0"/>
          </a:p>
        </p:txBody>
      </p:sp>
      <p:sp>
        <p:nvSpPr>
          <p:cNvPr id="22" name="Text 20"/>
          <p:cNvSpPr/>
          <p:nvPr/>
        </p:nvSpPr>
        <p:spPr>
          <a:xfrm>
            <a:off x="1481328" y="4187952"/>
            <a:ext cx="932688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60" b="1" dirty="0">
                <a:solidFill>
                  <a:srgbClr val="2F6FB0"/>
                </a:solidFill>
              </a:rPr>
              <a:t>Example: </a:t>
            </a:r>
            <a:r>
              <a:rPr lang="en-US" sz="1160" dirty="0">
                <a:solidFill>
                  <a:srgbClr val="223446"/>
                </a:solidFill>
              </a:rPr>
              <a:t>Lockheed Martin described using agile development for an Air Force system.</a:t>
            </a:r>
            <a:endParaRPr lang="en-US" sz="1160" dirty="0"/>
          </a:p>
        </p:txBody>
      </p:sp>
      <p:sp>
        <p:nvSpPr>
          <p:cNvPr id="23" name="Shape 21"/>
          <p:cNvSpPr/>
          <p:nvPr/>
        </p:nvSpPr>
        <p:spPr>
          <a:xfrm>
            <a:off x="658368" y="4800600"/>
            <a:ext cx="1083564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5240">
            <a:solidFill>
              <a:srgbClr val="D7E0EA"/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841248" y="5001768"/>
            <a:ext cx="502920" cy="502920"/>
          </a:xfrm>
          <a:prstGeom prst="roundRect">
            <a:avLst>
              <a:gd name="adj" fmla="val 21818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41248" y="5056632"/>
            <a:ext cx="502920" cy="1645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</a:rPr>
              <a:t>3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1481328" y="4946904"/>
            <a:ext cx="260604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63A63"/>
                </a:solidFill>
              </a:rPr>
              <a:t>Scrum Framework</a:t>
            </a:r>
            <a:endParaRPr lang="en-US" sz="2000" dirty="0"/>
          </a:p>
        </p:txBody>
      </p:sp>
      <p:sp>
        <p:nvSpPr>
          <p:cNvPr id="27" name="Shape 25"/>
          <p:cNvSpPr/>
          <p:nvPr/>
        </p:nvSpPr>
        <p:spPr>
          <a:xfrm>
            <a:off x="4526280" y="4956048"/>
            <a:ext cx="1234440" cy="256032"/>
          </a:xfrm>
          <a:prstGeom prst="roundRect">
            <a:avLst>
              <a:gd name="adj" fmla="val 25000"/>
            </a:avLst>
          </a:prstGeom>
          <a:solidFill>
            <a:srgbClr val="EEF4FB"/>
          </a:solidFill>
          <a:ln w="12700">
            <a:solidFill>
              <a:srgbClr val="EEF4F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81144" y="4997196"/>
            <a:ext cx="1115568" cy="1188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2A9D8F"/>
                </a:solidFill>
              </a:rPr>
              <a:t>Agile</a:t>
            </a:r>
            <a:endParaRPr lang="en-US" sz="920" dirty="0"/>
          </a:p>
        </p:txBody>
      </p:sp>
      <p:sp>
        <p:nvSpPr>
          <p:cNvPr id="29" name="Text 27"/>
          <p:cNvSpPr/>
          <p:nvPr/>
        </p:nvSpPr>
        <p:spPr>
          <a:xfrm>
            <a:off x="1481328" y="5257800"/>
            <a:ext cx="9601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10" dirty="0">
                <a:solidFill>
                  <a:srgbClr val="223446"/>
                </a:solidFill>
              </a:rPr>
              <a:t>Time-boxed sprints with defined roles, recurring events, and inspect-and-adapt cadence.</a:t>
            </a:r>
            <a:endParaRPr lang="en-US" sz="1210" dirty="0"/>
          </a:p>
        </p:txBody>
      </p:sp>
      <p:sp>
        <p:nvSpPr>
          <p:cNvPr id="30" name="Text 28"/>
          <p:cNvSpPr/>
          <p:nvPr/>
        </p:nvSpPr>
        <p:spPr>
          <a:xfrm>
            <a:off x="1481328" y="5650992"/>
            <a:ext cx="932688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60" b="1" dirty="0">
                <a:solidFill>
                  <a:srgbClr val="2A9D8F"/>
                </a:solidFill>
              </a:rPr>
              <a:t>Best for: </a:t>
            </a:r>
            <a:r>
              <a:rPr lang="en-US" sz="1160" dirty="0">
                <a:solidFill>
                  <a:srgbClr val="223446"/>
                </a:solidFill>
              </a:rPr>
              <a:t>Cross-functional teams that need structure plus flexibility.</a:t>
            </a:r>
            <a:endParaRPr lang="en-US" sz="1160" dirty="0"/>
          </a:p>
        </p:txBody>
      </p:sp>
      <p:sp>
        <p:nvSpPr>
          <p:cNvPr id="31" name="Text 29"/>
          <p:cNvSpPr/>
          <p:nvPr/>
        </p:nvSpPr>
        <p:spPr>
          <a:xfrm>
            <a:off x="1481328" y="5925312"/>
            <a:ext cx="932688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60" b="1" dirty="0">
                <a:solidFill>
                  <a:srgbClr val="2A9D8F"/>
                </a:solidFill>
              </a:rPr>
              <a:t>Example: </a:t>
            </a:r>
            <a:r>
              <a:rPr lang="en-US" sz="1160" dirty="0">
                <a:solidFill>
                  <a:srgbClr val="223446"/>
                </a:solidFill>
              </a:rPr>
              <a:t>Salesforce says Scrum is the main workflow for about 70% of its teams.</a:t>
            </a:r>
            <a:endParaRPr lang="en-US" sz="116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813816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63A6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Models 4–6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12648" y="850392"/>
            <a:ext cx="713232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376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These approaches are especially useful when flow, deployment, or risk is central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12648" y="1133856"/>
            <a:ext cx="1463040" cy="0"/>
          </a:xfrm>
          <a:prstGeom prst="line">
            <a:avLst/>
          </a:prstGeom>
          <a:noFill/>
          <a:ln w="27940">
            <a:solidFill>
              <a:srgbClr val="2F6FB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1325880"/>
            <a:ext cx="1083564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5240">
            <a:solidFill>
              <a:srgbClr val="D7E0EA"/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41248" y="1527048"/>
            <a:ext cx="502920" cy="502920"/>
          </a:xfrm>
          <a:prstGeom prst="roundRect">
            <a:avLst>
              <a:gd name="adj" fmla="val 21818"/>
            </a:avLst>
          </a:prstGeom>
          <a:solidFill>
            <a:srgbClr val="7D58A5"/>
          </a:solidFill>
          <a:ln w="12700">
            <a:solidFill>
              <a:srgbClr val="7D58A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1581912"/>
            <a:ext cx="502920" cy="1645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</a:rPr>
              <a:t>4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481328" y="1472184"/>
            <a:ext cx="260604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63A63"/>
                </a:solidFill>
              </a:rPr>
              <a:t>Kanban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4526280" y="1481328"/>
            <a:ext cx="1234440" cy="256032"/>
          </a:xfrm>
          <a:prstGeom prst="roundRect">
            <a:avLst>
              <a:gd name="adj" fmla="val 25000"/>
            </a:avLst>
          </a:prstGeom>
          <a:solidFill>
            <a:srgbClr val="EEF4FB"/>
          </a:solidFill>
          <a:ln w="12700">
            <a:solidFill>
              <a:srgbClr val="EEF4F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81144" y="1522476"/>
            <a:ext cx="1115568" cy="1188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7D58A5"/>
                </a:solidFill>
              </a:rPr>
              <a:t>Visual flow</a:t>
            </a:r>
            <a:endParaRPr lang="en-US" sz="920" dirty="0"/>
          </a:p>
        </p:txBody>
      </p:sp>
      <p:sp>
        <p:nvSpPr>
          <p:cNvPr id="11" name="Text 9"/>
          <p:cNvSpPr/>
          <p:nvPr/>
        </p:nvSpPr>
        <p:spPr>
          <a:xfrm>
            <a:off x="1481328" y="1783080"/>
            <a:ext cx="9601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10" dirty="0">
                <a:solidFill>
                  <a:srgbClr val="223446"/>
                </a:solidFill>
              </a:rPr>
              <a:t>Visualizes work on a board, limits WIP, and improves throughput by smoothing flow.</a:t>
            </a:r>
            <a:endParaRPr lang="en-US" sz="1210" dirty="0"/>
          </a:p>
        </p:txBody>
      </p:sp>
      <p:sp>
        <p:nvSpPr>
          <p:cNvPr id="12" name="Text 10"/>
          <p:cNvSpPr/>
          <p:nvPr/>
        </p:nvSpPr>
        <p:spPr>
          <a:xfrm>
            <a:off x="1481328" y="2176272"/>
            <a:ext cx="932688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60" b="1" dirty="0">
                <a:solidFill>
                  <a:srgbClr val="7D58A5"/>
                </a:solidFill>
              </a:rPr>
              <a:t>Best for: </a:t>
            </a:r>
            <a:r>
              <a:rPr lang="en-US" sz="1160" dirty="0">
                <a:solidFill>
                  <a:srgbClr val="223446"/>
                </a:solidFill>
              </a:rPr>
              <a:t>Support, maintenance, and operations-heavy work with shifting priorities.</a:t>
            </a:r>
            <a:endParaRPr lang="en-US" sz="1160" dirty="0"/>
          </a:p>
        </p:txBody>
      </p:sp>
      <p:sp>
        <p:nvSpPr>
          <p:cNvPr id="13" name="Text 11"/>
          <p:cNvSpPr/>
          <p:nvPr/>
        </p:nvSpPr>
        <p:spPr>
          <a:xfrm>
            <a:off x="1481328" y="2450592"/>
            <a:ext cx="932688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60" b="1" dirty="0">
                <a:solidFill>
                  <a:srgbClr val="7D58A5"/>
                </a:solidFill>
              </a:rPr>
              <a:t>Example: </a:t>
            </a:r>
            <a:r>
              <a:rPr lang="en-US" sz="1160" dirty="0">
                <a:solidFill>
                  <a:srgbClr val="223446"/>
                </a:solidFill>
              </a:rPr>
              <a:t>Toyota made kanban part of just-in-time production across all plants in 1963.</a:t>
            </a:r>
            <a:endParaRPr lang="en-US" sz="1160" dirty="0"/>
          </a:p>
        </p:txBody>
      </p:sp>
      <p:sp>
        <p:nvSpPr>
          <p:cNvPr id="14" name="Shape 12"/>
          <p:cNvSpPr/>
          <p:nvPr/>
        </p:nvSpPr>
        <p:spPr>
          <a:xfrm>
            <a:off x="658368" y="3063240"/>
            <a:ext cx="1083564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5240">
            <a:solidFill>
              <a:srgbClr val="D7E0EA"/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41248" y="3264408"/>
            <a:ext cx="502920" cy="502920"/>
          </a:xfrm>
          <a:prstGeom prst="roundRect">
            <a:avLst>
              <a:gd name="adj" fmla="val 21818"/>
            </a:avLst>
          </a:prstGeom>
          <a:solidFill>
            <a:srgbClr val="D4A94D"/>
          </a:solidFill>
          <a:ln w="12700">
            <a:solidFill>
              <a:srgbClr val="D4A94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1248" y="3319272"/>
            <a:ext cx="502920" cy="1645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</a:rPr>
              <a:t>5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1481328" y="3209544"/>
            <a:ext cx="260604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63A63"/>
                </a:solidFill>
              </a:rPr>
              <a:t>DevOps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4526280" y="3218688"/>
            <a:ext cx="1234440" cy="256032"/>
          </a:xfrm>
          <a:prstGeom prst="roundRect">
            <a:avLst>
              <a:gd name="adj" fmla="val 25000"/>
            </a:avLst>
          </a:prstGeom>
          <a:solidFill>
            <a:srgbClr val="EEF4FB"/>
          </a:solidFill>
          <a:ln w="12700">
            <a:solidFill>
              <a:srgbClr val="EEF4F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81144" y="3259836"/>
            <a:ext cx="1115568" cy="1188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D4A94D"/>
                </a:solidFill>
              </a:rPr>
              <a:t>Culture + practice</a:t>
            </a:r>
            <a:endParaRPr lang="en-US" sz="920" dirty="0"/>
          </a:p>
        </p:txBody>
      </p:sp>
      <p:sp>
        <p:nvSpPr>
          <p:cNvPr id="20" name="Text 18"/>
          <p:cNvSpPr/>
          <p:nvPr/>
        </p:nvSpPr>
        <p:spPr>
          <a:xfrm>
            <a:off x="1481328" y="3520440"/>
            <a:ext cx="9601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10" dirty="0">
                <a:solidFill>
                  <a:srgbClr val="223446"/>
                </a:solidFill>
              </a:rPr>
              <a:t>Connects development and operations through automation, CI/CD, monitoring, and shared ownership.</a:t>
            </a:r>
            <a:endParaRPr lang="en-US" sz="1210" dirty="0"/>
          </a:p>
        </p:txBody>
      </p:sp>
      <p:sp>
        <p:nvSpPr>
          <p:cNvPr id="21" name="Text 19"/>
          <p:cNvSpPr/>
          <p:nvPr/>
        </p:nvSpPr>
        <p:spPr>
          <a:xfrm>
            <a:off x="1481328" y="3913632"/>
            <a:ext cx="932688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60" b="1" dirty="0">
                <a:solidFill>
                  <a:srgbClr val="D4A94D"/>
                </a:solidFill>
              </a:rPr>
              <a:t>Best for: </a:t>
            </a:r>
            <a:r>
              <a:rPr lang="en-US" sz="1160" dirty="0">
                <a:solidFill>
                  <a:srgbClr val="223446"/>
                </a:solidFill>
              </a:rPr>
              <a:t>Cloud or SaaS products with frequent releases and high uptime needs.</a:t>
            </a:r>
            <a:endParaRPr lang="en-US" sz="1160" dirty="0"/>
          </a:p>
        </p:txBody>
      </p:sp>
      <p:sp>
        <p:nvSpPr>
          <p:cNvPr id="22" name="Text 20"/>
          <p:cNvSpPr/>
          <p:nvPr/>
        </p:nvSpPr>
        <p:spPr>
          <a:xfrm>
            <a:off x="1481328" y="4187952"/>
            <a:ext cx="932688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60" b="1" dirty="0">
                <a:solidFill>
                  <a:srgbClr val="D4A94D"/>
                </a:solidFill>
              </a:rPr>
              <a:t>Example: </a:t>
            </a:r>
            <a:r>
              <a:rPr lang="en-US" sz="1160" dirty="0">
                <a:solidFill>
                  <a:srgbClr val="223446"/>
                </a:solidFill>
              </a:rPr>
              <a:t>AWS positions DevOps as a core operating model for rapid, reliable delivery.</a:t>
            </a:r>
            <a:endParaRPr lang="en-US" sz="1160" dirty="0"/>
          </a:p>
        </p:txBody>
      </p:sp>
      <p:sp>
        <p:nvSpPr>
          <p:cNvPr id="23" name="Shape 21"/>
          <p:cNvSpPr/>
          <p:nvPr/>
        </p:nvSpPr>
        <p:spPr>
          <a:xfrm>
            <a:off x="658368" y="4800600"/>
            <a:ext cx="1083564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5240">
            <a:solidFill>
              <a:srgbClr val="D7E0EA"/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841248" y="5001768"/>
            <a:ext cx="502920" cy="502920"/>
          </a:xfrm>
          <a:prstGeom prst="roundRect">
            <a:avLst>
              <a:gd name="adj" fmla="val 21818"/>
            </a:avLst>
          </a:prstGeom>
          <a:solidFill>
            <a:srgbClr val="C65A46"/>
          </a:solidFill>
          <a:ln w="12700">
            <a:solidFill>
              <a:srgbClr val="C65A4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41248" y="5056632"/>
            <a:ext cx="502920" cy="1645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</a:rPr>
              <a:t>6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1481328" y="4946904"/>
            <a:ext cx="260604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63A63"/>
                </a:solidFill>
              </a:rPr>
              <a:t>Spiral Model</a:t>
            </a:r>
            <a:endParaRPr lang="en-US" sz="2000" dirty="0"/>
          </a:p>
        </p:txBody>
      </p:sp>
      <p:sp>
        <p:nvSpPr>
          <p:cNvPr id="27" name="Shape 25"/>
          <p:cNvSpPr/>
          <p:nvPr/>
        </p:nvSpPr>
        <p:spPr>
          <a:xfrm>
            <a:off x="4526280" y="4956048"/>
            <a:ext cx="1234440" cy="256032"/>
          </a:xfrm>
          <a:prstGeom prst="roundRect">
            <a:avLst>
              <a:gd name="adj" fmla="val 25000"/>
            </a:avLst>
          </a:prstGeom>
          <a:solidFill>
            <a:srgbClr val="EEF4FB"/>
          </a:solidFill>
          <a:ln w="12700">
            <a:solidFill>
              <a:srgbClr val="EEF4F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81144" y="4997196"/>
            <a:ext cx="1115568" cy="1188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C65A46"/>
                </a:solidFill>
              </a:rPr>
              <a:t>Risk-driven</a:t>
            </a:r>
            <a:endParaRPr lang="en-US" sz="920" dirty="0"/>
          </a:p>
        </p:txBody>
      </p:sp>
      <p:sp>
        <p:nvSpPr>
          <p:cNvPr id="29" name="Text 27"/>
          <p:cNvSpPr/>
          <p:nvPr/>
        </p:nvSpPr>
        <p:spPr>
          <a:xfrm>
            <a:off x="1481328" y="5257800"/>
            <a:ext cx="9601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10" dirty="0">
                <a:solidFill>
                  <a:srgbClr val="223446"/>
                </a:solidFill>
              </a:rPr>
              <a:t>Builds in repeated cycles that identify risks, evaluate alternatives, and refine the solution.</a:t>
            </a:r>
            <a:endParaRPr lang="en-US" sz="1210" dirty="0"/>
          </a:p>
        </p:txBody>
      </p:sp>
      <p:sp>
        <p:nvSpPr>
          <p:cNvPr id="30" name="Text 28"/>
          <p:cNvSpPr/>
          <p:nvPr/>
        </p:nvSpPr>
        <p:spPr>
          <a:xfrm>
            <a:off x="1481328" y="5650992"/>
            <a:ext cx="932688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60" b="1" dirty="0">
                <a:solidFill>
                  <a:srgbClr val="C65A46"/>
                </a:solidFill>
              </a:rPr>
              <a:t>Best for: </a:t>
            </a:r>
            <a:r>
              <a:rPr lang="en-US" sz="1160" dirty="0">
                <a:solidFill>
                  <a:srgbClr val="223446"/>
                </a:solidFill>
              </a:rPr>
              <a:t>Large, expensive, or technically uncertain projects.</a:t>
            </a:r>
            <a:endParaRPr lang="en-US" sz="1160" dirty="0"/>
          </a:p>
        </p:txBody>
      </p:sp>
      <p:sp>
        <p:nvSpPr>
          <p:cNvPr id="31" name="Text 29"/>
          <p:cNvSpPr/>
          <p:nvPr/>
        </p:nvSpPr>
        <p:spPr>
          <a:xfrm>
            <a:off x="1481328" y="5925312"/>
            <a:ext cx="932688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60" b="1" dirty="0">
                <a:solidFill>
                  <a:srgbClr val="C65A46"/>
                </a:solidFill>
              </a:rPr>
              <a:t>Example: </a:t>
            </a:r>
            <a:r>
              <a:rPr lang="en-US" sz="1160" dirty="0">
                <a:solidFill>
                  <a:srgbClr val="223446"/>
                </a:solidFill>
              </a:rPr>
              <a:t>NASA’s TReK project is a documented Spiral Model case study.</a:t>
            </a:r>
            <a:endParaRPr lang="en-US" sz="116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813816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63A6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Agile vs Waterfall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12648" y="850392"/>
            <a:ext cx="713232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376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clearest contrast in planning, customer feedback, and response to change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12648" y="1133856"/>
            <a:ext cx="1463040" cy="0"/>
          </a:xfrm>
          <a:prstGeom prst="line">
            <a:avLst/>
          </a:prstGeom>
          <a:noFill/>
          <a:ln w="27940">
            <a:solidFill>
              <a:srgbClr val="2F6FB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" y="1417320"/>
            <a:ext cx="5239512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  <a:effectLst>
            <a:outerShdw blurRad="16510" dist="7620" dir="2700000" algn="bl" rotWithShape="0">
              <a:srgbClr val="000000">
                <a:alpha val="11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236208" y="1417320"/>
            <a:ext cx="5239512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  <a:effectLst>
            <a:outerShdw blurRad="16510" dist="7620" dir="2700000" algn="bl" rotWithShape="0">
              <a:srgbClr val="000000">
                <a:alpha val="11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05256" y="1664208"/>
            <a:ext cx="1554480" cy="365760"/>
          </a:xfrm>
          <a:prstGeom prst="roundRect">
            <a:avLst>
              <a:gd name="adj" fmla="val 20000"/>
            </a:avLst>
          </a:prstGeom>
          <a:solidFill>
            <a:srgbClr val="163A63"/>
          </a:solidFill>
          <a:ln w="12700">
            <a:solidFill>
              <a:srgbClr val="163A6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28232" y="1664208"/>
            <a:ext cx="1097280" cy="365760"/>
          </a:xfrm>
          <a:prstGeom prst="roundRect">
            <a:avLst>
              <a:gd name="adj" fmla="val 20000"/>
            </a:avLst>
          </a:prstGeom>
          <a:solidFill>
            <a:srgbClr val="2F6FB0"/>
          </a:solidFill>
          <a:ln w="12700">
            <a:solidFill>
              <a:srgbClr val="2F6FB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773936"/>
            <a:ext cx="1536192" cy="12801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80" b="1" dirty="0">
                <a:solidFill>
                  <a:srgbClr val="FFFFFF"/>
                </a:solidFill>
              </a:rPr>
              <a:t>Waterfall</a:t>
            </a:r>
            <a:endParaRPr lang="en-US" sz="1380" dirty="0"/>
          </a:p>
        </p:txBody>
      </p:sp>
      <p:sp>
        <p:nvSpPr>
          <p:cNvPr id="10" name="Text 8"/>
          <p:cNvSpPr/>
          <p:nvPr/>
        </p:nvSpPr>
        <p:spPr>
          <a:xfrm>
            <a:off x="6446520" y="1773936"/>
            <a:ext cx="1051560" cy="12801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80" b="1" dirty="0">
                <a:solidFill>
                  <a:srgbClr val="FFFFFF"/>
                </a:solidFill>
              </a:rPr>
              <a:t>Agile</a:t>
            </a:r>
            <a:endParaRPr lang="en-US" sz="1380" dirty="0"/>
          </a:p>
        </p:txBody>
      </p:sp>
      <p:sp>
        <p:nvSpPr>
          <p:cNvPr id="11" name="Text 9"/>
          <p:cNvSpPr/>
          <p:nvPr/>
        </p:nvSpPr>
        <p:spPr>
          <a:xfrm>
            <a:off x="987552" y="2240280"/>
            <a:ext cx="1417320" cy="1645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80" b="1" dirty="0">
                <a:solidFill>
                  <a:srgbClr val="163A63"/>
                </a:solidFill>
              </a:rPr>
              <a:t>Planning style</a:t>
            </a:r>
            <a:endParaRPr lang="en-US" sz="1280" dirty="0"/>
          </a:p>
        </p:txBody>
      </p:sp>
      <p:sp>
        <p:nvSpPr>
          <p:cNvPr id="12" name="Text 10"/>
          <p:cNvSpPr/>
          <p:nvPr/>
        </p:nvSpPr>
        <p:spPr>
          <a:xfrm>
            <a:off x="2542032" y="2240280"/>
            <a:ext cx="2944368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40" dirty="0">
                <a:solidFill>
                  <a:srgbClr val="223446"/>
                </a:solidFill>
              </a:rPr>
              <a:t>Detailed upfront plan and fixed sequence of phases.</a:t>
            </a:r>
            <a:endParaRPr lang="en-US" sz="1240" dirty="0"/>
          </a:p>
        </p:txBody>
      </p:sp>
      <p:sp>
        <p:nvSpPr>
          <p:cNvPr id="13" name="Text 11"/>
          <p:cNvSpPr/>
          <p:nvPr/>
        </p:nvSpPr>
        <p:spPr>
          <a:xfrm>
            <a:off x="987552" y="2971800"/>
            <a:ext cx="1417320" cy="1645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80" b="1" dirty="0">
                <a:solidFill>
                  <a:srgbClr val="163A63"/>
                </a:solidFill>
              </a:rPr>
              <a:t>Change handling</a:t>
            </a:r>
            <a:endParaRPr lang="en-US" sz="1280" dirty="0"/>
          </a:p>
        </p:txBody>
      </p:sp>
      <p:sp>
        <p:nvSpPr>
          <p:cNvPr id="14" name="Text 12"/>
          <p:cNvSpPr/>
          <p:nvPr/>
        </p:nvSpPr>
        <p:spPr>
          <a:xfrm>
            <a:off x="2542032" y="2971800"/>
            <a:ext cx="2944368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40" dirty="0">
                <a:solidFill>
                  <a:srgbClr val="223446"/>
                </a:solidFill>
              </a:rPr>
              <a:t>Late changes are difficult and expensive.</a:t>
            </a:r>
            <a:endParaRPr lang="en-US" sz="1240" dirty="0"/>
          </a:p>
        </p:txBody>
      </p:sp>
      <p:sp>
        <p:nvSpPr>
          <p:cNvPr id="15" name="Text 13"/>
          <p:cNvSpPr/>
          <p:nvPr/>
        </p:nvSpPr>
        <p:spPr>
          <a:xfrm>
            <a:off x="987552" y="3703320"/>
            <a:ext cx="1417320" cy="1645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80" b="1" dirty="0">
                <a:solidFill>
                  <a:srgbClr val="163A63"/>
                </a:solidFill>
              </a:rPr>
              <a:t>Customer role</a:t>
            </a:r>
            <a:endParaRPr lang="en-US" sz="1280" dirty="0"/>
          </a:p>
        </p:txBody>
      </p:sp>
      <p:sp>
        <p:nvSpPr>
          <p:cNvPr id="16" name="Text 14"/>
          <p:cNvSpPr/>
          <p:nvPr/>
        </p:nvSpPr>
        <p:spPr>
          <a:xfrm>
            <a:off x="2542032" y="3703320"/>
            <a:ext cx="2944368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40" dirty="0">
                <a:solidFill>
                  <a:srgbClr val="223446"/>
                </a:solidFill>
              </a:rPr>
              <a:t>Usually strongest at the start and near final delivery.</a:t>
            </a:r>
            <a:endParaRPr lang="en-US" sz="1240" dirty="0"/>
          </a:p>
        </p:txBody>
      </p:sp>
      <p:sp>
        <p:nvSpPr>
          <p:cNvPr id="17" name="Text 15"/>
          <p:cNvSpPr/>
          <p:nvPr/>
        </p:nvSpPr>
        <p:spPr>
          <a:xfrm>
            <a:off x="987552" y="4434840"/>
            <a:ext cx="1417320" cy="1645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80" b="1" dirty="0">
                <a:solidFill>
                  <a:srgbClr val="163A63"/>
                </a:solidFill>
              </a:rPr>
              <a:t>Documentation</a:t>
            </a:r>
            <a:endParaRPr lang="en-US" sz="1280" dirty="0"/>
          </a:p>
        </p:txBody>
      </p:sp>
      <p:sp>
        <p:nvSpPr>
          <p:cNvPr id="18" name="Text 16"/>
          <p:cNvSpPr/>
          <p:nvPr/>
        </p:nvSpPr>
        <p:spPr>
          <a:xfrm>
            <a:off x="2542032" y="4434840"/>
            <a:ext cx="2944368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40" dirty="0">
                <a:solidFill>
                  <a:srgbClr val="223446"/>
                </a:solidFill>
              </a:rPr>
              <a:t>Heavy documentation and milestone approvals.</a:t>
            </a:r>
            <a:endParaRPr lang="en-US" sz="1240" dirty="0"/>
          </a:p>
        </p:txBody>
      </p:sp>
      <p:sp>
        <p:nvSpPr>
          <p:cNvPr id="19" name="Text 17"/>
          <p:cNvSpPr/>
          <p:nvPr/>
        </p:nvSpPr>
        <p:spPr>
          <a:xfrm>
            <a:off x="987552" y="5166360"/>
            <a:ext cx="1417320" cy="1645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80" b="1" dirty="0">
                <a:solidFill>
                  <a:srgbClr val="163A63"/>
                </a:solidFill>
              </a:rPr>
              <a:t>Best fit</a:t>
            </a:r>
            <a:endParaRPr lang="en-US" sz="1280" dirty="0"/>
          </a:p>
        </p:txBody>
      </p:sp>
      <p:sp>
        <p:nvSpPr>
          <p:cNvPr id="20" name="Text 18"/>
          <p:cNvSpPr/>
          <p:nvPr/>
        </p:nvSpPr>
        <p:spPr>
          <a:xfrm>
            <a:off x="2542032" y="5166360"/>
            <a:ext cx="2944368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40" dirty="0">
                <a:solidFill>
                  <a:srgbClr val="223446"/>
                </a:solidFill>
              </a:rPr>
              <a:t>Stable scope, regulated processes, predictable delivery.</a:t>
            </a:r>
            <a:endParaRPr lang="en-US" sz="1240" dirty="0"/>
          </a:p>
        </p:txBody>
      </p:sp>
      <p:sp>
        <p:nvSpPr>
          <p:cNvPr id="21" name="Text 19"/>
          <p:cNvSpPr/>
          <p:nvPr/>
        </p:nvSpPr>
        <p:spPr>
          <a:xfrm>
            <a:off x="6510528" y="2240280"/>
            <a:ext cx="1417320" cy="1645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80" b="1" dirty="0">
                <a:solidFill>
                  <a:srgbClr val="2F6FB0"/>
                </a:solidFill>
              </a:rPr>
              <a:t>Planning style</a:t>
            </a:r>
            <a:endParaRPr lang="en-US" sz="1280" dirty="0"/>
          </a:p>
        </p:txBody>
      </p:sp>
      <p:sp>
        <p:nvSpPr>
          <p:cNvPr id="22" name="Text 20"/>
          <p:cNvSpPr/>
          <p:nvPr/>
        </p:nvSpPr>
        <p:spPr>
          <a:xfrm>
            <a:off x="8065008" y="2240280"/>
            <a:ext cx="278892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40" dirty="0">
                <a:solidFill>
                  <a:srgbClr val="223446"/>
                </a:solidFill>
              </a:rPr>
              <a:t>Adaptive planning in short iterations or increments.</a:t>
            </a:r>
            <a:endParaRPr lang="en-US" sz="1240" dirty="0"/>
          </a:p>
        </p:txBody>
      </p:sp>
      <p:sp>
        <p:nvSpPr>
          <p:cNvPr id="23" name="Text 21"/>
          <p:cNvSpPr/>
          <p:nvPr/>
        </p:nvSpPr>
        <p:spPr>
          <a:xfrm>
            <a:off x="6510528" y="2971800"/>
            <a:ext cx="1417320" cy="1645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80" b="1" dirty="0">
                <a:solidFill>
                  <a:srgbClr val="2F6FB0"/>
                </a:solidFill>
              </a:rPr>
              <a:t>Change handling</a:t>
            </a:r>
            <a:endParaRPr lang="en-US" sz="1280" dirty="0"/>
          </a:p>
        </p:txBody>
      </p:sp>
      <p:sp>
        <p:nvSpPr>
          <p:cNvPr id="24" name="Text 22"/>
          <p:cNvSpPr/>
          <p:nvPr/>
        </p:nvSpPr>
        <p:spPr>
          <a:xfrm>
            <a:off x="8065008" y="2971800"/>
            <a:ext cx="278892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40" dirty="0">
                <a:solidFill>
                  <a:srgbClr val="223446"/>
                </a:solidFill>
              </a:rPr>
              <a:t>Change is expected and integrated into the process.</a:t>
            </a:r>
            <a:endParaRPr lang="en-US" sz="1240" dirty="0"/>
          </a:p>
        </p:txBody>
      </p:sp>
      <p:sp>
        <p:nvSpPr>
          <p:cNvPr id="25" name="Text 23"/>
          <p:cNvSpPr/>
          <p:nvPr/>
        </p:nvSpPr>
        <p:spPr>
          <a:xfrm>
            <a:off x="6510528" y="3703320"/>
            <a:ext cx="1417320" cy="1645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80" b="1" dirty="0">
                <a:solidFill>
                  <a:srgbClr val="2F6FB0"/>
                </a:solidFill>
              </a:rPr>
              <a:t>Customer role</a:t>
            </a:r>
            <a:endParaRPr lang="en-US" sz="1280" dirty="0"/>
          </a:p>
        </p:txBody>
      </p:sp>
      <p:sp>
        <p:nvSpPr>
          <p:cNvPr id="26" name="Text 24"/>
          <p:cNvSpPr/>
          <p:nvPr/>
        </p:nvSpPr>
        <p:spPr>
          <a:xfrm>
            <a:off x="8065008" y="3703320"/>
            <a:ext cx="278892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40" dirty="0">
                <a:solidFill>
                  <a:srgbClr val="223446"/>
                </a:solidFill>
              </a:rPr>
              <a:t>Frequent feedback throughout development.</a:t>
            </a:r>
            <a:endParaRPr lang="en-US" sz="1240" dirty="0"/>
          </a:p>
        </p:txBody>
      </p:sp>
      <p:sp>
        <p:nvSpPr>
          <p:cNvPr id="27" name="Text 25"/>
          <p:cNvSpPr/>
          <p:nvPr/>
        </p:nvSpPr>
        <p:spPr>
          <a:xfrm>
            <a:off x="6510528" y="4434840"/>
            <a:ext cx="1417320" cy="1645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80" b="1" dirty="0">
                <a:solidFill>
                  <a:srgbClr val="2F6FB0"/>
                </a:solidFill>
              </a:rPr>
              <a:t>Documentation</a:t>
            </a:r>
            <a:endParaRPr lang="en-US" sz="1280" dirty="0"/>
          </a:p>
        </p:txBody>
      </p:sp>
      <p:sp>
        <p:nvSpPr>
          <p:cNvPr id="28" name="Text 26"/>
          <p:cNvSpPr/>
          <p:nvPr/>
        </p:nvSpPr>
        <p:spPr>
          <a:xfrm>
            <a:off x="8065008" y="4434840"/>
            <a:ext cx="278892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40" dirty="0">
                <a:solidFill>
                  <a:srgbClr val="223446"/>
                </a:solidFill>
              </a:rPr>
              <a:t>Enough documentation, but working software comes first.</a:t>
            </a:r>
            <a:endParaRPr lang="en-US" sz="1240" dirty="0"/>
          </a:p>
        </p:txBody>
      </p:sp>
      <p:sp>
        <p:nvSpPr>
          <p:cNvPr id="29" name="Text 27"/>
          <p:cNvSpPr/>
          <p:nvPr/>
        </p:nvSpPr>
        <p:spPr>
          <a:xfrm>
            <a:off x="6510528" y="5166360"/>
            <a:ext cx="1417320" cy="1645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80" b="1" dirty="0">
                <a:solidFill>
                  <a:srgbClr val="2F6FB0"/>
                </a:solidFill>
              </a:rPr>
              <a:t>Best fit</a:t>
            </a:r>
            <a:endParaRPr lang="en-US" sz="1280" dirty="0"/>
          </a:p>
        </p:txBody>
      </p:sp>
      <p:sp>
        <p:nvSpPr>
          <p:cNvPr id="30" name="Text 28"/>
          <p:cNvSpPr/>
          <p:nvPr/>
        </p:nvSpPr>
        <p:spPr>
          <a:xfrm>
            <a:off x="8065008" y="5166360"/>
            <a:ext cx="278892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40" dirty="0">
                <a:solidFill>
                  <a:srgbClr val="223446"/>
                </a:solidFill>
              </a:rPr>
              <a:t>Evolving products, learning loops, and fast response.</a:t>
            </a:r>
            <a:endParaRPr lang="en-US" sz="1240" dirty="0"/>
          </a:p>
        </p:txBody>
      </p:sp>
      <p:sp>
        <p:nvSpPr>
          <p:cNvPr id="31" name="Shape 29"/>
          <p:cNvSpPr/>
          <p:nvPr/>
        </p:nvSpPr>
        <p:spPr>
          <a:xfrm>
            <a:off x="6053328" y="1874520"/>
            <a:ext cx="0" cy="3703320"/>
          </a:xfrm>
          <a:prstGeom prst="line">
            <a:avLst/>
          </a:prstGeom>
          <a:noFill/>
          <a:ln w="27940">
            <a:solidFill>
              <a:srgbClr val="D9E8F8"/>
            </a:solidFill>
            <a:prstDash val="dash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813816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63A6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Comparison Table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12648" y="850392"/>
            <a:ext cx="713232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376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four required dimensions from the assignment brief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12648" y="1133856"/>
            <a:ext cx="1463040" cy="0"/>
          </a:xfrm>
          <a:prstGeom prst="line">
            <a:avLst/>
          </a:prstGeom>
          <a:noFill/>
          <a:ln w="27940">
            <a:solidFill>
              <a:srgbClr val="2F6FB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" y="1325880"/>
            <a:ext cx="10744200" cy="5166360"/>
          </a:xfrm>
          <a:prstGeom prst="roundRect">
            <a:avLst>
              <a:gd name="adj" fmla="val 1416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</p:spPr>
      </p:sp>
      <p:pic>
        <p:nvPicPr>
          <p:cNvPr id="6" name="Image 0" descr="/mnt/data/SE-Assignment01/assets/comparison_tabl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82012" y="1600200"/>
            <a:ext cx="7406640" cy="45262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6199632"/>
            <a:ext cx="10058400" cy="1645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60" dirty="0">
                <a:solidFill>
                  <a:srgbClr val="63768A"/>
                </a:solidFill>
              </a:rPr>
              <a:t>Quick read: Agile, Scrum, and Kanban rank highest on flexibility; Waterfall and Spiral require the most documentation.</a:t>
            </a:r>
            <a:endParaRPr lang="en-US" sz="126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813816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63A6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My Choice for a Student Team Project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12648" y="850392"/>
            <a:ext cx="713232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376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Scrum offers the best balance of structure, communication, and adaptability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12648" y="1133856"/>
            <a:ext cx="1463040" cy="0"/>
          </a:xfrm>
          <a:prstGeom prst="line">
            <a:avLst/>
          </a:prstGeom>
          <a:noFill/>
          <a:ln w="27940">
            <a:solidFill>
              <a:srgbClr val="2F6FB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429000" y="1883664"/>
            <a:ext cx="2148840" cy="1389888"/>
          </a:xfrm>
          <a:prstGeom prst="line">
            <a:avLst/>
          </a:prstGeom>
          <a:noFill/>
          <a:ln w="27940">
            <a:solidFill>
              <a:srgbClr val="D9E8F8"/>
            </a:solidFill>
            <a:prstDash val="solid"/>
            <a:headEnd type="none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6080760" y="1883664"/>
            <a:ext cx="2194560" cy="1389888"/>
          </a:xfrm>
          <a:prstGeom prst="line">
            <a:avLst/>
          </a:prstGeom>
          <a:noFill/>
          <a:ln w="27940">
            <a:solidFill>
              <a:srgbClr val="D9E8F8"/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5833872" y="3703320"/>
            <a:ext cx="0" cy="1664208"/>
          </a:xfrm>
          <a:prstGeom prst="line">
            <a:avLst/>
          </a:prstGeom>
          <a:noFill/>
          <a:ln w="27940">
            <a:solidFill>
              <a:srgbClr val="D9E8F8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4736592" y="2395728"/>
            <a:ext cx="2194560" cy="1444752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  <a:effectLst>
            <a:outerShdw blurRad="20320" dist="889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736592" y="2761488"/>
            <a:ext cx="219456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SCRUM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914400" y="1481328"/>
            <a:ext cx="260604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7780">
            <a:solidFill>
              <a:srgbClr val="2F6FB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51560" y="1618488"/>
            <a:ext cx="2331720" cy="1645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2F6FB0"/>
                </a:solidFill>
              </a:rPr>
              <a:t>1. Structure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1078992" y="1892808"/>
            <a:ext cx="2276856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40" dirty="0">
                <a:solidFill>
                  <a:srgbClr val="223446"/>
                </a:solidFill>
              </a:rPr>
              <a:t>Sprints, sprint goals, and regular reviews help students divide work into manageable pieces.</a:t>
            </a:r>
            <a:endParaRPr lang="en-US" sz="1240" dirty="0"/>
          </a:p>
        </p:txBody>
      </p:sp>
      <p:sp>
        <p:nvSpPr>
          <p:cNvPr id="13" name="Shape 11"/>
          <p:cNvSpPr/>
          <p:nvPr/>
        </p:nvSpPr>
        <p:spPr>
          <a:xfrm>
            <a:off x="8229600" y="1481328"/>
            <a:ext cx="260604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7780">
            <a:solidFill>
              <a:srgbClr val="163A6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66760" y="1618488"/>
            <a:ext cx="2331720" cy="1645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163A63"/>
                </a:solidFill>
              </a:rPr>
              <a:t>2. Communication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8394192" y="1892808"/>
            <a:ext cx="2276856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40" dirty="0">
                <a:solidFill>
                  <a:srgbClr val="223446"/>
                </a:solidFill>
              </a:rPr>
              <a:t>Daily check-ins and retrospectives reduce misunderstandings and uneven workload.</a:t>
            </a:r>
            <a:endParaRPr lang="en-US" sz="1240" dirty="0"/>
          </a:p>
        </p:txBody>
      </p:sp>
      <p:sp>
        <p:nvSpPr>
          <p:cNvPr id="16" name="Shape 14"/>
          <p:cNvSpPr/>
          <p:nvPr/>
        </p:nvSpPr>
        <p:spPr>
          <a:xfrm>
            <a:off x="4462272" y="4663440"/>
            <a:ext cx="274320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7780">
            <a:solidFill>
              <a:srgbClr val="D4A94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99432" y="4800600"/>
            <a:ext cx="2468880" cy="1645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D4A94D"/>
                </a:solidFill>
              </a:rPr>
              <a:t>3. Flexibility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4626864" y="5074920"/>
            <a:ext cx="2414016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40" dirty="0">
                <a:solidFill>
                  <a:srgbClr val="223446"/>
                </a:solidFill>
              </a:rPr>
              <a:t>The team can improve the product step by step when ideas or requirements change.</a:t>
            </a:r>
            <a:endParaRPr lang="en-US" sz="1240" dirty="0"/>
          </a:p>
        </p:txBody>
      </p:sp>
      <p:sp>
        <p:nvSpPr>
          <p:cNvPr id="19" name="Text 17"/>
          <p:cNvSpPr/>
          <p:nvPr/>
        </p:nvSpPr>
        <p:spPr>
          <a:xfrm>
            <a:off x="1097280" y="5961888"/>
            <a:ext cx="941832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20" dirty="0">
                <a:solidFill>
                  <a:srgbClr val="63768A"/>
                </a:solidFill>
              </a:rPr>
              <a:t>A student project needs enough process to stay organized, but not so much process that it slows the team down. Scrum fits that middle ground very well.</a:t>
            </a:r>
            <a:endParaRPr lang="en-US" sz="142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813816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63A6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Conclusion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12648" y="850392"/>
            <a:ext cx="713232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376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There is no universal best model—only the best fit for a given project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12648" y="1133856"/>
            <a:ext cx="1463040" cy="0"/>
          </a:xfrm>
          <a:prstGeom prst="line">
            <a:avLst/>
          </a:prstGeom>
          <a:noFill/>
          <a:ln w="27940">
            <a:solidFill>
              <a:srgbClr val="2F6FB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371600"/>
            <a:ext cx="10972800" cy="5212080"/>
          </a:xfrm>
          <a:prstGeom prst="roundRect">
            <a:avLst>
              <a:gd name="adj" fmla="val 1404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78992" y="1737360"/>
            <a:ext cx="1371600" cy="310896"/>
          </a:xfrm>
          <a:prstGeom prst="roundRect">
            <a:avLst>
              <a:gd name="adj" fmla="val 20588"/>
            </a:avLst>
          </a:prstGeom>
          <a:solidFill>
            <a:srgbClr val="163A63"/>
          </a:solidFill>
          <a:ln w="12700">
            <a:solidFill>
              <a:srgbClr val="163A6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8992" y="1819656"/>
            <a:ext cx="1371600" cy="1188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</a:rPr>
              <a:t>Waterfall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2697480" y="1801368"/>
            <a:ext cx="5760720" cy="1554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80" dirty="0">
                <a:solidFill>
                  <a:srgbClr val="223446"/>
                </a:solidFill>
              </a:rPr>
              <a:t>Best when requirements are fixed and traceability matters.</a:t>
            </a:r>
            <a:endParaRPr lang="en-US" sz="1380" dirty="0"/>
          </a:p>
        </p:txBody>
      </p:sp>
      <p:sp>
        <p:nvSpPr>
          <p:cNvPr id="9" name="Shape 7"/>
          <p:cNvSpPr/>
          <p:nvPr/>
        </p:nvSpPr>
        <p:spPr>
          <a:xfrm>
            <a:off x="1078992" y="2395728"/>
            <a:ext cx="1371600" cy="310896"/>
          </a:xfrm>
          <a:prstGeom prst="roundRect">
            <a:avLst>
              <a:gd name="adj" fmla="val 20588"/>
            </a:avLst>
          </a:prstGeom>
          <a:solidFill>
            <a:srgbClr val="2F6FB0"/>
          </a:solidFill>
          <a:ln w="12700">
            <a:solidFill>
              <a:srgbClr val="2F6FB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78992" y="2478024"/>
            <a:ext cx="1371600" cy="1188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</a:rPr>
              <a:t>Agile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2697480" y="2459736"/>
            <a:ext cx="5760720" cy="1554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80" dirty="0">
                <a:solidFill>
                  <a:srgbClr val="223446"/>
                </a:solidFill>
              </a:rPr>
              <a:t>Best when learning and adaptation drive value.</a:t>
            </a:r>
            <a:endParaRPr lang="en-US" sz="1380" dirty="0"/>
          </a:p>
        </p:txBody>
      </p:sp>
      <p:sp>
        <p:nvSpPr>
          <p:cNvPr id="12" name="Shape 10"/>
          <p:cNvSpPr/>
          <p:nvPr/>
        </p:nvSpPr>
        <p:spPr>
          <a:xfrm>
            <a:off x="1078992" y="3054096"/>
            <a:ext cx="1371600" cy="310896"/>
          </a:xfrm>
          <a:prstGeom prst="roundRect">
            <a:avLst>
              <a:gd name="adj" fmla="val 20588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78992" y="3136392"/>
            <a:ext cx="1371600" cy="1188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</a:rPr>
              <a:t>Scrum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2697480" y="3118104"/>
            <a:ext cx="5760720" cy="1554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80" dirty="0">
                <a:solidFill>
                  <a:srgbClr val="223446"/>
                </a:solidFill>
              </a:rPr>
              <a:t>Best when a small team needs rhythm and accountability.</a:t>
            </a:r>
            <a:endParaRPr lang="en-US" sz="1380" dirty="0"/>
          </a:p>
        </p:txBody>
      </p:sp>
      <p:sp>
        <p:nvSpPr>
          <p:cNvPr id="15" name="Shape 13"/>
          <p:cNvSpPr/>
          <p:nvPr/>
        </p:nvSpPr>
        <p:spPr>
          <a:xfrm>
            <a:off x="1078992" y="3712464"/>
            <a:ext cx="1371600" cy="310896"/>
          </a:xfrm>
          <a:prstGeom prst="roundRect">
            <a:avLst>
              <a:gd name="adj" fmla="val 20588"/>
            </a:avLst>
          </a:prstGeom>
          <a:solidFill>
            <a:srgbClr val="7D58A5"/>
          </a:solidFill>
          <a:ln w="12700">
            <a:solidFill>
              <a:srgbClr val="7D58A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78992" y="3794760"/>
            <a:ext cx="1371600" cy="1188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</a:rPr>
              <a:t>Kanban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2697480" y="3776472"/>
            <a:ext cx="5760720" cy="1554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80" dirty="0">
                <a:solidFill>
                  <a:srgbClr val="223446"/>
                </a:solidFill>
              </a:rPr>
              <a:t>Best when work arrives continuously and flow matters.</a:t>
            </a:r>
            <a:endParaRPr lang="en-US" sz="1380" dirty="0"/>
          </a:p>
        </p:txBody>
      </p:sp>
      <p:sp>
        <p:nvSpPr>
          <p:cNvPr id="18" name="Shape 16"/>
          <p:cNvSpPr/>
          <p:nvPr/>
        </p:nvSpPr>
        <p:spPr>
          <a:xfrm>
            <a:off x="1078992" y="4370832"/>
            <a:ext cx="1371600" cy="310896"/>
          </a:xfrm>
          <a:prstGeom prst="roundRect">
            <a:avLst>
              <a:gd name="adj" fmla="val 20588"/>
            </a:avLst>
          </a:prstGeom>
          <a:solidFill>
            <a:srgbClr val="D4A94D"/>
          </a:solidFill>
          <a:ln w="12700">
            <a:solidFill>
              <a:srgbClr val="D4A94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78992" y="4453128"/>
            <a:ext cx="1371600" cy="1188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</a:rPr>
              <a:t>DevOps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2697480" y="4434840"/>
            <a:ext cx="5760720" cy="1554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80" dirty="0">
                <a:solidFill>
                  <a:srgbClr val="223446"/>
                </a:solidFill>
              </a:rPr>
              <a:t>Best when delivery speed and operational reliability must improve together.</a:t>
            </a:r>
            <a:endParaRPr lang="en-US" sz="1380" dirty="0"/>
          </a:p>
        </p:txBody>
      </p:sp>
      <p:sp>
        <p:nvSpPr>
          <p:cNvPr id="21" name="Shape 19"/>
          <p:cNvSpPr/>
          <p:nvPr/>
        </p:nvSpPr>
        <p:spPr>
          <a:xfrm>
            <a:off x="1078992" y="5029200"/>
            <a:ext cx="1371600" cy="310896"/>
          </a:xfrm>
          <a:prstGeom prst="roundRect">
            <a:avLst>
              <a:gd name="adj" fmla="val 20588"/>
            </a:avLst>
          </a:prstGeom>
          <a:solidFill>
            <a:srgbClr val="C65A46"/>
          </a:solidFill>
          <a:ln w="12700">
            <a:solidFill>
              <a:srgbClr val="C65A4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78992" y="5111496"/>
            <a:ext cx="1371600" cy="1188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</a:rPr>
              <a:t>Spiral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2697480" y="5093208"/>
            <a:ext cx="5760720" cy="1554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80" dirty="0">
                <a:solidFill>
                  <a:srgbClr val="223446"/>
                </a:solidFill>
              </a:rPr>
              <a:t>Best when technical or project risk is too high to ignore.</a:t>
            </a:r>
            <a:endParaRPr lang="en-US" sz="1380" dirty="0"/>
          </a:p>
        </p:txBody>
      </p:sp>
      <p:sp>
        <p:nvSpPr>
          <p:cNvPr id="24" name="Shape 22"/>
          <p:cNvSpPr/>
          <p:nvPr/>
        </p:nvSpPr>
        <p:spPr>
          <a:xfrm>
            <a:off x="9098280" y="5193792"/>
            <a:ext cx="1554480" cy="347472"/>
          </a:xfrm>
          <a:prstGeom prst="roundRect">
            <a:avLst>
              <a:gd name="adj" fmla="val 21053"/>
            </a:avLst>
          </a:prstGeom>
          <a:solidFill>
            <a:srgbClr val="EEF4FB"/>
          </a:solidFill>
          <a:ln w="12700">
            <a:solidFill>
              <a:srgbClr val="EEF4F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098280" y="5276088"/>
            <a:ext cx="1554480" cy="1097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63A63"/>
                </a:solidFill>
              </a:rPr>
              <a:t>Thank you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8549640" y="5669280"/>
            <a:ext cx="237744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F6FB0"/>
                </a:solidFill>
              </a:rPr>
              <a:t>Questions?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4610</Words>
  <Application>WPS 演示</Application>
  <PresentationFormat>On-screen Show (16:9)</PresentationFormat>
  <Paragraphs>250</Paragraphs>
  <Slides>8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23" baseType="lpstr">
      <vt:lpstr>Arial</vt:lpstr>
      <vt:lpstr>宋体</vt:lpstr>
      <vt:lpstr>Wingdings</vt:lpstr>
      <vt:lpstr>Aptos</vt:lpstr>
      <vt:lpstr>Segoe UI</vt:lpstr>
      <vt:lpstr>Aptos</vt:lpstr>
      <vt:lpstr>Aptos</vt:lpstr>
      <vt:lpstr>Aptos Display</vt:lpstr>
      <vt:lpstr>Segoe UI Variable Display</vt:lpstr>
      <vt:lpstr>Aptos Display</vt:lpstr>
      <vt:lpstr>Aptos Display</vt:lpstr>
      <vt:lpstr>微软雅黑</vt:lpstr>
      <vt:lpstr>Arial Unicode MS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OpenAI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Assignment 01 Presentation</dc:title>
  <dc:creator>OpenAI</dc:creator>
  <dc:subject>Software Development Models &amp; Methodologies</dc:subject>
  <cp:lastModifiedBy>企业用户_439442651</cp:lastModifiedBy>
  <cp:revision>2</cp:revision>
  <dcterms:created xsi:type="dcterms:W3CDTF">2026-04-19T14:43:00Z</dcterms:created>
  <dcterms:modified xsi:type="dcterms:W3CDTF">2026-04-20T11:24:06Z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2052-12.1.0.25865</vt:lpwstr>
  </property>
  <property fmtid="{D5CDD505-2E9C-101B-9397-08002B2CF9AE}" pid="3" name="ICV">
    <vt:lpwstr>D64053B016E747E1A60870386D851DE5_12</vt:lpwstr>
  </property>
</Properties>
</file>